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56"/>
  </p:normalViewPr>
  <p:slideViewPr>
    <p:cSldViewPr snapToGrid="0" snapToObjects="1">
      <p:cViewPr varScale="1">
        <p:scale>
          <a:sx n="89" d="100"/>
          <a:sy n="89" d="100"/>
        </p:scale>
        <p:origin x="174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MNIST Neural Networks and Adversarial Attacks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1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Recognize handwritten digits using MNIST.</a:t>
            </a:r>
          </a:p>
          <a:p>
            <a:r>
              <a:t>Dataset: 60,000 training images, 10,000 testing images.</a:t>
            </a:r>
          </a:p>
          <a:p>
            <a:r>
              <a:t>Images are 28x28 grayscale digits from 0-9.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MNIST?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MNIST is a benchmark dataset for image recognition.</a:t>
            </a:r>
          </a:p>
          <a:p>
            <a:r>
              <a:t>Each image contains a handwritten digit.</a:t>
            </a:r>
          </a:p>
          <a:p>
            <a:r>
              <a:t>The task is to predict the correct digit class.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MLP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Multi-Layer Perceptron (MLP)</a:t>
            </a:r>
          </a:p>
          <a:p>
            <a:r>
              <a:t>• Fully connected neural network</a:t>
            </a:r>
          </a:p>
          <a:p>
            <a:r>
              <a:t>• Fast and simple baseline</a:t>
            </a:r>
          </a:p>
          <a:p>
            <a:r>
              <a:t>• Flattens images into vectors</a:t>
            </a:r>
          </a:p>
          <a:p>
            <a:r>
              <a:t>Limitation: Does not understand image structure well.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Convolutional Neural Network (CNN)</a:t>
            </a:r>
          </a:p>
          <a:p>
            <a:r>
              <a:t>• Uses convolution layers to detect edges and shapes</a:t>
            </a:r>
          </a:p>
          <a:p>
            <a:r>
              <a:t>• Uses pooling to reduce dimensions</a:t>
            </a:r>
          </a:p>
          <a:p>
            <a:r>
              <a:t>• Designed specifically for image data</a:t>
            </a:r>
          </a:p>
          <a:p>
            <a:r>
              <a:t>Usually achieves the highest accuracy on MNIST.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 Encoder</a:t>
            </a:r>
          </a:p>
          <a:p>
            <a:r>
              <a:t>• Uses attention mechanisms</a:t>
            </a:r>
          </a:p>
          <a:p>
            <a:r>
              <a:t>• Can compare information across the entire image</a:t>
            </a:r>
          </a:p>
          <a:p>
            <a:r>
              <a:t>• Modern architecture used in many AI systems</a:t>
            </a:r>
          </a:p>
          <a:p>
            <a:r>
              <a:t>Strong performance but often more complex than CNN.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1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Compare MLP, CNN, and Transformer accuracy.</a:t>
            </a:r>
          </a:p>
          <a:p>
            <a:r>
              <a:rPr dirty="0"/>
              <a:t>Key lesson: Different architectures produce different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1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CNN </a:t>
            </a:r>
            <a:r>
              <a:rPr dirty="0"/>
              <a:t>performed best for image recognition.</a:t>
            </a:r>
          </a:p>
          <a:p>
            <a:r>
              <a:rPr dirty="0" smtClean="0"/>
              <a:t>Architecture </a:t>
            </a:r>
            <a:r>
              <a:rPr dirty="0"/>
              <a:t>matters.</a:t>
            </a:r>
          </a:p>
          <a:p>
            <a:r>
              <a:rPr dirty="0" smtClean="0"/>
              <a:t>Accuracy </a:t>
            </a:r>
            <a:r>
              <a:rPr dirty="0"/>
              <a:t>depends on how the model processes data.</a:t>
            </a:r>
          </a:p>
          <a:p>
            <a:r>
              <a:rPr dirty="0" smtClean="0"/>
              <a:t>High </a:t>
            </a:r>
            <a:r>
              <a:rPr dirty="0"/>
              <a:t>accuracy is important, but not the whole 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2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Goal: Test model robustness.</a:t>
            </a:r>
          </a:p>
          <a:p>
            <a:r>
              <a:rPr dirty="0"/>
              <a:t>Question: Can we intentionally fool a neural network?</a:t>
            </a:r>
          </a:p>
          <a:p>
            <a:r>
              <a:rPr dirty="0"/>
              <a:t>Metrics:</a:t>
            </a:r>
          </a:p>
          <a:p>
            <a:r>
              <a:rPr dirty="0" smtClean="0"/>
              <a:t>Recognition </a:t>
            </a:r>
            <a:r>
              <a:rPr dirty="0"/>
              <a:t>Rate</a:t>
            </a:r>
          </a:p>
          <a:p>
            <a:r>
              <a:rPr dirty="0" smtClean="0"/>
              <a:t>Attack </a:t>
            </a:r>
            <a:r>
              <a:rPr dirty="0"/>
              <a:t>Success Rate (ASR)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Adversarial Attack?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adversarial attack adds tiny, carefully designed changes to data that humans may not notice but can cause AI to make wrong predictions.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FGSM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Fast Gradient Sign Method</a:t>
            </a:r>
          </a:p>
          <a:p>
            <a:r>
              <a:rPr dirty="0" smtClean="0"/>
              <a:t>One-step </a:t>
            </a:r>
            <a:r>
              <a:rPr dirty="0"/>
              <a:t>attack</a:t>
            </a:r>
          </a:p>
          <a:p>
            <a:r>
              <a:rPr dirty="0" smtClean="0"/>
              <a:t>Uses </a:t>
            </a:r>
            <a:r>
              <a:rPr dirty="0"/>
              <a:t>gradient information</a:t>
            </a:r>
          </a:p>
          <a:p>
            <a:r>
              <a:rPr dirty="0" smtClean="0"/>
              <a:t>Fast </a:t>
            </a:r>
            <a:r>
              <a:rPr dirty="0"/>
              <a:t>and simple</a:t>
            </a:r>
          </a:p>
          <a:p>
            <a:r>
              <a:rPr dirty="0"/>
              <a:t>Goal: Increase prediction error with minimal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PGD / I-FGSM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Multiple </a:t>
            </a:r>
            <a:r>
              <a:rPr dirty="0"/>
              <a:t>attack iterations</a:t>
            </a:r>
          </a:p>
          <a:p>
            <a:r>
              <a:rPr dirty="0" smtClean="0"/>
              <a:t>Stronger </a:t>
            </a:r>
            <a:r>
              <a:rPr dirty="0"/>
              <a:t>than FGSM</a:t>
            </a:r>
          </a:p>
          <a:p>
            <a:r>
              <a:rPr dirty="0" smtClean="0"/>
              <a:t>Gradually </a:t>
            </a:r>
            <a:r>
              <a:rPr dirty="0"/>
              <a:t>pushes image toward misclassification</a:t>
            </a:r>
          </a:p>
          <a:p>
            <a:r>
              <a:rPr dirty="0"/>
              <a:t>Usually achieves higher attack success rates.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Momentum I-FGSM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Uses </a:t>
            </a:r>
            <a:r>
              <a:rPr dirty="0"/>
              <a:t>momentum from previous gradients</a:t>
            </a:r>
          </a:p>
          <a:p>
            <a:r>
              <a:rPr dirty="0" smtClean="0"/>
              <a:t>Helps </a:t>
            </a:r>
            <a:r>
              <a:rPr dirty="0"/>
              <a:t>find stronger attack directions</a:t>
            </a:r>
          </a:p>
          <a:p>
            <a:r>
              <a:rPr dirty="0" smtClean="0"/>
              <a:t>Often </a:t>
            </a:r>
            <a:r>
              <a:rPr dirty="0"/>
              <a:t>one of the most effective attacks tested.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Compare </a:t>
            </a:r>
            <a:r>
              <a:rPr dirty="0"/>
              <a:t>FGSM, PGD/I-FGSM, and MI-FGSM.</a:t>
            </a:r>
          </a:p>
          <a:p>
            <a:r>
              <a:rPr dirty="0"/>
              <a:t>Discuss Recognition Rate and Attack Success 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ASR?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 Success Rate (ASR)</a:t>
            </a:r>
          </a:p>
          <a:p>
            <a:r>
              <a:t>Measures how often an attack successfully fools the model.</a:t>
            </a:r>
          </a:p>
          <a:p>
            <a:r>
              <a:t>Higher ASR means a more effective attack.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≠ Robustness</a:t>
            </a:r>
          </a:p>
          <a:p>
            <a:r>
              <a:t>A model can achieve very high accuracy on normal images and still be vulnerable to adversarial attacks.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1 showed how neural networks recognize images.</a:t>
            </a:r>
          </a:p>
          <a:p>
            <a:r>
              <a:t>Project 2 showed how those same models can be fooled.</a:t>
            </a:r>
          </a:p>
          <a:p>
            <a:r>
              <a:t>Building accurate AI is important, but building robust AI is equally important.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450</Words>
  <Application>Microsoft Macintosh PowerPoint</Application>
  <PresentationFormat>On-screen Show (4:3)</PresentationFormat>
  <Paragraphs>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MNIST Neural Networks and Adversarial Attacks</vt:lpstr>
      <vt:lpstr>Project 1 Overview</vt:lpstr>
      <vt:lpstr>What is MNIST?</vt:lpstr>
      <vt:lpstr>MLP Model</vt:lpstr>
      <vt:lpstr>CNN Model</vt:lpstr>
      <vt:lpstr>Transformer Model</vt:lpstr>
      <vt:lpstr>Project 1 Results</vt:lpstr>
      <vt:lpstr>Project 1 Takeaways</vt:lpstr>
      <vt:lpstr>Project 2 Overview</vt:lpstr>
      <vt:lpstr>What is an Adversarial Attack?</vt:lpstr>
      <vt:lpstr>FGSM Attack</vt:lpstr>
      <vt:lpstr>PGD / I-FGSM Attack</vt:lpstr>
      <vt:lpstr>Momentum I-FGSM</vt:lpstr>
      <vt:lpstr>Attack Results</vt:lpstr>
      <vt:lpstr>What is ASR?</vt:lpstr>
      <vt:lpstr>Key Lesson</vt:lpstr>
      <vt:lpstr>Conclusion</vt:lpstr>
    </vt:vector>
  </TitlesOfParts>
  <Manager/>
  <Company/>
  <LinksUpToDate>false</LinksUpToDate>
  <SharedDoc>false</SharedDoc>
  <HyperlinkBase/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Neural Networks and Adversarial Attacks</dc:title>
  <dc:subject/>
  <dc:creator/>
  <cp:keywords/>
  <dc:description>generated using python-pptx</dc:description>
  <cp:lastModifiedBy>Zhao, Ruiming</cp:lastModifiedBy>
  <cp:revision>2</cp:revision>
  <dcterms:created xsi:type="dcterms:W3CDTF">2013-01-27T09:14:16Z</dcterms:created>
  <dcterms:modified xsi:type="dcterms:W3CDTF">2026-05-30T18:34:35Z</dcterms:modified>
  <cp:category/>
</cp:coreProperties>
</file>